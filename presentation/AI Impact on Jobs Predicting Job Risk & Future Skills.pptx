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Red Hat Display Bold" charset="1" panose="02010803040201060303"/>
      <p:regular r:id="rId21"/>
    </p:embeddedFont>
    <p:embeddedFont>
      <p:font typeface="Inter" charset="1" panose="020B0502030000000004"/>
      <p:regular r:id="rId22"/>
    </p:embeddedFont>
    <p:embeddedFont>
      <p:font typeface="Inter Medium" charset="1" panose="02000503000000020004"/>
      <p:regular r:id="rId23"/>
    </p:embeddedFont>
    <p:embeddedFont>
      <p:font typeface="Inter Bold" charset="1" panose="020B08020300000000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28099" y="1539161"/>
            <a:ext cx="7719139" cy="77191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96960" y="1539161"/>
            <a:ext cx="7719139" cy="771913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36630" y="6009010"/>
            <a:ext cx="2469284" cy="4409435"/>
          </a:xfrm>
          <a:custGeom>
            <a:avLst/>
            <a:gdLst/>
            <a:ahLst/>
            <a:cxnLst/>
            <a:rect r="r" b="b" t="t" l="l"/>
            <a:pathLst>
              <a:path h="4409435" w="2469284">
                <a:moveTo>
                  <a:pt x="0" y="0"/>
                </a:moveTo>
                <a:lnTo>
                  <a:pt x="2469283" y="0"/>
                </a:lnTo>
                <a:lnTo>
                  <a:pt x="2469283" y="4409435"/>
                </a:lnTo>
                <a:lnTo>
                  <a:pt x="0" y="4409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5082087" y="6009010"/>
            <a:ext cx="2469284" cy="4409435"/>
          </a:xfrm>
          <a:custGeom>
            <a:avLst/>
            <a:gdLst/>
            <a:ahLst/>
            <a:cxnLst/>
            <a:rect r="r" b="b" t="t" l="l"/>
            <a:pathLst>
              <a:path h="4409435" w="2469284">
                <a:moveTo>
                  <a:pt x="2469283" y="0"/>
                </a:moveTo>
                <a:lnTo>
                  <a:pt x="0" y="0"/>
                </a:lnTo>
                <a:lnTo>
                  <a:pt x="0" y="4409435"/>
                </a:lnTo>
                <a:lnTo>
                  <a:pt x="2469283" y="4409435"/>
                </a:lnTo>
                <a:lnTo>
                  <a:pt x="24692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30217" y="1013257"/>
            <a:ext cx="860074" cy="333578"/>
            <a:chOff x="0" y="0"/>
            <a:chExt cx="1146765" cy="44477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16397710" y="1028700"/>
            <a:ext cx="860074" cy="333578"/>
            <a:chOff x="0" y="0"/>
            <a:chExt cx="1146765" cy="444771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TextBox 24" id="24"/>
          <p:cNvSpPr txBox="true"/>
          <p:nvPr/>
        </p:nvSpPr>
        <p:spPr>
          <a:xfrm rot="0">
            <a:off x="2813728" y="2928326"/>
            <a:ext cx="12518108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AI IMPACT ON JOBS: PR</a:t>
            </a:r>
            <a:r>
              <a:rPr lang="en-US" b="true" sz="349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EDICTING JOB RISK &amp;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FUTURE SKILLS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894919" y="5830253"/>
            <a:ext cx="8834615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Ömer Faruk Kaba</a:t>
            </a:r>
          </a:p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Ahmet Sefa Yıldırım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Yusuf Şaban Tosuncuk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51510" y="981075"/>
            <a:ext cx="7184231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</a:t>
            </a:r>
            <a:r>
              <a:rPr lang="en-US" b="true" sz="229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3007: INTRODUCTION TO MACHINE LEARNING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</a:p>
          <a:p>
            <a:pPr algn="ctr">
              <a:lnSpc>
                <a:spcPts val="3219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4894919" y="5105400"/>
            <a:ext cx="8834615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resented by: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924722"/>
            <a:ext cx="860074" cy="333578"/>
            <a:chOff x="0" y="0"/>
            <a:chExt cx="1146765" cy="44477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9490910" y="2087176"/>
            <a:ext cx="7768390" cy="7171124"/>
            <a:chOff x="0" y="0"/>
            <a:chExt cx="937097" cy="8650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7097" cy="865049"/>
            </a:xfrm>
            <a:custGeom>
              <a:avLst/>
              <a:gdLst/>
              <a:ahLst/>
              <a:cxnLst/>
              <a:rect r="r" b="b" t="t" l="l"/>
              <a:pathLst>
                <a:path h="865049" w="937097">
                  <a:moveTo>
                    <a:pt x="22922" y="0"/>
                  </a:moveTo>
                  <a:lnTo>
                    <a:pt x="914176" y="0"/>
                  </a:lnTo>
                  <a:cubicBezTo>
                    <a:pt x="926835" y="0"/>
                    <a:pt x="937097" y="10262"/>
                    <a:pt x="937097" y="22922"/>
                  </a:cubicBezTo>
                  <a:lnTo>
                    <a:pt x="937097" y="842128"/>
                  </a:lnTo>
                  <a:cubicBezTo>
                    <a:pt x="937097" y="854787"/>
                    <a:pt x="926835" y="865049"/>
                    <a:pt x="914176" y="865049"/>
                  </a:cubicBezTo>
                  <a:lnTo>
                    <a:pt x="22922" y="865049"/>
                  </a:lnTo>
                  <a:cubicBezTo>
                    <a:pt x="10262" y="865049"/>
                    <a:pt x="0" y="854787"/>
                    <a:pt x="0" y="842128"/>
                  </a:cubicBezTo>
                  <a:lnTo>
                    <a:pt x="0" y="22922"/>
                  </a:lnTo>
                  <a:cubicBezTo>
                    <a:pt x="0" y="10262"/>
                    <a:pt x="10262" y="0"/>
                    <a:pt x="2292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164" r="0" b="-4164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2285686"/>
            <a:ext cx="730316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WHAT THIS STUDY DOES?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165758"/>
            <a:ext cx="7303160" cy="250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Predicts the automation risk of occupations using machine learning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Classifies jobs into High / Medium / Low AI vulnerability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Suggests alternative low-risk jobs based on skills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Builds a sector-level AI Resilience Index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Provides a data-driven framework for future workforce decisions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000125"/>
            <a:ext cx="701014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 3007:</a:t>
            </a:r>
            <a:r>
              <a:rPr lang="en-US" b="true" sz="14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INTRODUCTION TO MACHINE LEARNING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5866051" y="981075"/>
            <a:ext cx="139324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5996588"/>
            <a:ext cx="730316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WHY IT MATTERS?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632010"/>
            <a:ext cx="7303160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AI will transform millions of jobs, understanding risk today helps prepare for tomorrow.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255197"/>
            <a:ext cx="5697370" cy="2888303"/>
            <a:chOff x="0" y="0"/>
            <a:chExt cx="1124785" cy="5702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24785" cy="570214"/>
            </a:xfrm>
            <a:custGeom>
              <a:avLst/>
              <a:gdLst/>
              <a:ahLst/>
              <a:cxnLst/>
              <a:rect r="r" b="b" t="t" l="l"/>
              <a:pathLst>
                <a:path h="570214" w="1124785">
                  <a:moveTo>
                    <a:pt x="31254" y="0"/>
                  </a:moveTo>
                  <a:lnTo>
                    <a:pt x="1093531" y="0"/>
                  </a:lnTo>
                  <a:cubicBezTo>
                    <a:pt x="1101820" y="0"/>
                    <a:pt x="1109769" y="3293"/>
                    <a:pt x="1115631" y="9154"/>
                  </a:cubicBezTo>
                  <a:cubicBezTo>
                    <a:pt x="1121492" y="15015"/>
                    <a:pt x="1124785" y="22965"/>
                    <a:pt x="1124785" y="31254"/>
                  </a:cubicBezTo>
                  <a:lnTo>
                    <a:pt x="1124785" y="538960"/>
                  </a:lnTo>
                  <a:cubicBezTo>
                    <a:pt x="1124785" y="547249"/>
                    <a:pt x="1121492" y="555199"/>
                    <a:pt x="1115631" y="561060"/>
                  </a:cubicBezTo>
                  <a:cubicBezTo>
                    <a:pt x="1109769" y="566921"/>
                    <a:pt x="1101820" y="570214"/>
                    <a:pt x="1093531" y="570214"/>
                  </a:cubicBezTo>
                  <a:lnTo>
                    <a:pt x="31254" y="570214"/>
                  </a:lnTo>
                  <a:cubicBezTo>
                    <a:pt x="22965" y="570214"/>
                    <a:pt x="15015" y="566921"/>
                    <a:pt x="9154" y="561060"/>
                  </a:cubicBezTo>
                  <a:cubicBezTo>
                    <a:pt x="3293" y="555199"/>
                    <a:pt x="0" y="547249"/>
                    <a:pt x="0" y="538960"/>
                  </a:cubicBezTo>
                  <a:lnTo>
                    <a:pt x="0" y="31254"/>
                  </a:lnTo>
                  <a:cubicBezTo>
                    <a:pt x="0" y="22965"/>
                    <a:pt x="3293" y="15015"/>
                    <a:pt x="9154" y="9154"/>
                  </a:cubicBezTo>
                  <a:cubicBezTo>
                    <a:pt x="15015" y="3293"/>
                    <a:pt x="22965" y="0"/>
                    <a:pt x="31254" y="0"/>
                  </a:cubicBezTo>
                  <a:close/>
                </a:path>
              </a:pathLst>
            </a:custGeom>
            <a:blipFill>
              <a:blip r:embed="rId2"/>
              <a:stretch>
                <a:fillRect l="-8948" t="0" r="-894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64220" y="6613002"/>
            <a:ext cx="1512662" cy="151266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164220" y="2255197"/>
            <a:ext cx="1512662" cy="151266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6369997"/>
            <a:ext cx="5697370" cy="2888303"/>
            <a:chOff x="0" y="0"/>
            <a:chExt cx="1124785" cy="5702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24785" cy="570214"/>
            </a:xfrm>
            <a:custGeom>
              <a:avLst/>
              <a:gdLst/>
              <a:ahLst/>
              <a:cxnLst/>
              <a:rect r="r" b="b" t="t" l="l"/>
              <a:pathLst>
                <a:path h="570214" w="1124785">
                  <a:moveTo>
                    <a:pt x="31254" y="0"/>
                  </a:moveTo>
                  <a:lnTo>
                    <a:pt x="1093531" y="0"/>
                  </a:lnTo>
                  <a:cubicBezTo>
                    <a:pt x="1101820" y="0"/>
                    <a:pt x="1109769" y="3293"/>
                    <a:pt x="1115631" y="9154"/>
                  </a:cubicBezTo>
                  <a:cubicBezTo>
                    <a:pt x="1121492" y="15015"/>
                    <a:pt x="1124785" y="22965"/>
                    <a:pt x="1124785" y="31254"/>
                  </a:cubicBezTo>
                  <a:lnTo>
                    <a:pt x="1124785" y="538960"/>
                  </a:lnTo>
                  <a:cubicBezTo>
                    <a:pt x="1124785" y="547249"/>
                    <a:pt x="1121492" y="555199"/>
                    <a:pt x="1115631" y="561060"/>
                  </a:cubicBezTo>
                  <a:cubicBezTo>
                    <a:pt x="1109769" y="566921"/>
                    <a:pt x="1101820" y="570214"/>
                    <a:pt x="1093531" y="570214"/>
                  </a:cubicBezTo>
                  <a:lnTo>
                    <a:pt x="31254" y="570214"/>
                  </a:lnTo>
                  <a:cubicBezTo>
                    <a:pt x="22965" y="570214"/>
                    <a:pt x="15015" y="566921"/>
                    <a:pt x="9154" y="561060"/>
                  </a:cubicBezTo>
                  <a:cubicBezTo>
                    <a:pt x="3293" y="555199"/>
                    <a:pt x="0" y="547249"/>
                    <a:pt x="0" y="538960"/>
                  </a:cubicBezTo>
                  <a:lnTo>
                    <a:pt x="0" y="31254"/>
                  </a:lnTo>
                  <a:cubicBezTo>
                    <a:pt x="0" y="22965"/>
                    <a:pt x="3293" y="15015"/>
                    <a:pt x="9154" y="9154"/>
                  </a:cubicBezTo>
                  <a:cubicBezTo>
                    <a:pt x="15015" y="3293"/>
                    <a:pt x="22965" y="0"/>
                    <a:pt x="31254" y="0"/>
                  </a:cubicBezTo>
                  <a:close/>
                </a:path>
              </a:pathLst>
            </a:custGeom>
            <a:blipFill>
              <a:blip r:embed="rId3"/>
              <a:stretch>
                <a:fillRect l="-3504" t="0" r="-3504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1440815"/>
            <a:ext cx="811530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EXPLORATORY DATA ANALYSIS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866051" y="981075"/>
            <a:ext cx="139324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03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111112" y="6613002"/>
            <a:ext cx="6081089" cy="1512662"/>
            <a:chOff x="0" y="0"/>
            <a:chExt cx="8108119" cy="2016883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782443"/>
              <a:ext cx="8108119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The AI Impact distribution is right-skewed, meaning low and medium risk jobs are more common, while highly automatable jobs are fewer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47625"/>
              <a:ext cx="5290806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AI IMPACT DISTRIBUTION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11112" y="2255197"/>
            <a:ext cx="6081089" cy="1826987"/>
            <a:chOff x="0" y="0"/>
            <a:chExt cx="8108119" cy="2435983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782443"/>
              <a:ext cx="8108119" cy="1653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The dataset is evenly distributed across all domains. The average AI Impact values are very similar across domains, indicating a balanced and synthetic dataset structure.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47625"/>
              <a:ext cx="5290806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DOMAIN DISTRIBUTION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541046" y="2804835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41046" y="7162640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1000125"/>
            <a:ext cx="701014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 3007:</a:t>
            </a:r>
            <a:r>
              <a:rPr lang="en-US" b="true" sz="14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INTRODUCTION TO MACHINE LEARNING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255197"/>
            <a:ext cx="5697370" cy="2888303"/>
            <a:chOff x="0" y="0"/>
            <a:chExt cx="1124785" cy="5702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24785" cy="570214"/>
            </a:xfrm>
            <a:custGeom>
              <a:avLst/>
              <a:gdLst/>
              <a:ahLst/>
              <a:cxnLst/>
              <a:rect r="r" b="b" t="t" l="l"/>
              <a:pathLst>
                <a:path h="570214" w="1124785">
                  <a:moveTo>
                    <a:pt x="31254" y="0"/>
                  </a:moveTo>
                  <a:lnTo>
                    <a:pt x="1093531" y="0"/>
                  </a:lnTo>
                  <a:cubicBezTo>
                    <a:pt x="1101820" y="0"/>
                    <a:pt x="1109769" y="3293"/>
                    <a:pt x="1115631" y="9154"/>
                  </a:cubicBezTo>
                  <a:cubicBezTo>
                    <a:pt x="1121492" y="15015"/>
                    <a:pt x="1124785" y="22965"/>
                    <a:pt x="1124785" y="31254"/>
                  </a:cubicBezTo>
                  <a:lnTo>
                    <a:pt x="1124785" y="538960"/>
                  </a:lnTo>
                  <a:cubicBezTo>
                    <a:pt x="1124785" y="547249"/>
                    <a:pt x="1121492" y="555199"/>
                    <a:pt x="1115631" y="561060"/>
                  </a:cubicBezTo>
                  <a:cubicBezTo>
                    <a:pt x="1109769" y="566921"/>
                    <a:pt x="1101820" y="570214"/>
                    <a:pt x="1093531" y="570214"/>
                  </a:cubicBezTo>
                  <a:lnTo>
                    <a:pt x="31254" y="570214"/>
                  </a:lnTo>
                  <a:cubicBezTo>
                    <a:pt x="22965" y="570214"/>
                    <a:pt x="15015" y="566921"/>
                    <a:pt x="9154" y="561060"/>
                  </a:cubicBezTo>
                  <a:cubicBezTo>
                    <a:pt x="3293" y="555199"/>
                    <a:pt x="0" y="547249"/>
                    <a:pt x="0" y="538960"/>
                  </a:cubicBezTo>
                  <a:lnTo>
                    <a:pt x="0" y="31254"/>
                  </a:lnTo>
                  <a:cubicBezTo>
                    <a:pt x="0" y="22965"/>
                    <a:pt x="3293" y="15015"/>
                    <a:pt x="9154" y="9154"/>
                  </a:cubicBezTo>
                  <a:cubicBezTo>
                    <a:pt x="15015" y="3293"/>
                    <a:pt x="22965" y="0"/>
                    <a:pt x="31254" y="0"/>
                  </a:cubicBezTo>
                  <a:close/>
                </a:path>
              </a:pathLst>
            </a:custGeom>
            <a:blipFill>
              <a:blip r:embed="rId2"/>
              <a:stretch>
                <a:fillRect l="-3645" t="0" r="-364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64220" y="6613002"/>
            <a:ext cx="1512662" cy="151266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164220" y="2255197"/>
            <a:ext cx="1512662" cy="151266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5476875"/>
            <a:ext cx="5697370" cy="3781425"/>
            <a:chOff x="0" y="0"/>
            <a:chExt cx="1124785" cy="7465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24785" cy="746535"/>
            </a:xfrm>
            <a:custGeom>
              <a:avLst/>
              <a:gdLst/>
              <a:ahLst/>
              <a:cxnLst/>
              <a:rect r="r" b="b" t="t" l="l"/>
              <a:pathLst>
                <a:path h="746535" w="1124785">
                  <a:moveTo>
                    <a:pt x="31254" y="0"/>
                  </a:moveTo>
                  <a:lnTo>
                    <a:pt x="1093531" y="0"/>
                  </a:lnTo>
                  <a:cubicBezTo>
                    <a:pt x="1101820" y="0"/>
                    <a:pt x="1109769" y="3293"/>
                    <a:pt x="1115631" y="9154"/>
                  </a:cubicBezTo>
                  <a:cubicBezTo>
                    <a:pt x="1121492" y="15015"/>
                    <a:pt x="1124785" y="22965"/>
                    <a:pt x="1124785" y="31254"/>
                  </a:cubicBezTo>
                  <a:lnTo>
                    <a:pt x="1124785" y="715282"/>
                  </a:lnTo>
                  <a:cubicBezTo>
                    <a:pt x="1124785" y="723571"/>
                    <a:pt x="1121492" y="731520"/>
                    <a:pt x="1115631" y="737381"/>
                  </a:cubicBezTo>
                  <a:cubicBezTo>
                    <a:pt x="1109769" y="743243"/>
                    <a:pt x="1101820" y="746535"/>
                    <a:pt x="1093531" y="746535"/>
                  </a:cubicBezTo>
                  <a:lnTo>
                    <a:pt x="31254" y="746535"/>
                  </a:lnTo>
                  <a:cubicBezTo>
                    <a:pt x="22965" y="746535"/>
                    <a:pt x="15015" y="743243"/>
                    <a:pt x="9154" y="737381"/>
                  </a:cubicBezTo>
                  <a:cubicBezTo>
                    <a:pt x="3293" y="731520"/>
                    <a:pt x="0" y="723571"/>
                    <a:pt x="0" y="715282"/>
                  </a:cubicBezTo>
                  <a:lnTo>
                    <a:pt x="0" y="31254"/>
                  </a:lnTo>
                  <a:cubicBezTo>
                    <a:pt x="0" y="22965"/>
                    <a:pt x="3293" y="15015"/>
                    <a:pt x="9154" y="9154"/>
                  </a:cubicBezTo>
                  <a:cubicBezTo>
                    <a:pt x="15015" y="3293"/>
                    <a:pt x="22965" y="0"/>
                    <a:pt x="31254" y="0"/>
                  </a:cubicBezTo>
                  <a:close/>
                </a:path>
              </a:pathLst>
            </a:custGeom>
            <a:blipFill>
              <a:blip r:embed="rId3"/>
              <a:stretch>
                <a:fillRect l="-1202" t="0" r="-120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1440815"/>
            <a:ext cx="811530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EXPLORATORY DATA ANALYSIS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11112" y="6613002"/>
            <a:ext cx="6081089" cy="1512662"/>
            <a:chOff x="0" y="0"/>
            <a:chExt cx="8108119" cy="2016883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782443"/>
              <a:ext cx="8108119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There is a strong positive correlation between Tasks and AI models. AI Impact shows a moderate negative correlation with these variables.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47625"/>
              <a:ext cx="5290806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CORRELATION MATRIX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11112" y="2255197"/>
            <a:ext cx="6081089" cy="1512662"/>
            <a:chOff x="0" y="0"/>
            <a:chExt cx="8108119" cy="2016883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782443"/>
              <a:ext cx="8108119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AI Workload Ratio is mostly concentrated between 10%–30%; meaning most jobs contain a moderate amount of automatable tasks.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-47625"/>
              <a:ext cx="5290806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AI WORKLOAD RATIO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541046" y="2804835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41046" y="7162640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1000125"/>
            <a:ext cx="701014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 3007:</a:t>
            </a:r>
            <a:r>
              <a:rPr lang="en-US" b="true" sz="14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INTRODUCTION TO MACHINE LEARNING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5866051" y="981075"/>
            <a:ext cx="139324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924722"/>
            <a:ext cx="860074" cy="333578"/>
            <a:chOff x="0" y="0"/>
            <a:chExt cx="1146765" cy="44477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917916" y="2244879"/>
            <a:ext cx="5962125" cy="2898621"/>
            <a:chOff x="0" y="0"/>
            <a:chExt cx="1172863" cy="5702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2863" cy="570214"/>
            </a:xfrm>
            <a:custGeom>
              <a:avLst/>
              <a:gdLst/>
              <a:ahLst/>
              <a:cxnLst/>
              <a:rect r="r" b="b" t="t" l="l"/>
              <a:pathLst>
                <a:path h="570214" w="1172863">
                  <a:moveTo>
                    <a:pt x="29866" y="0"/>
                  </a:moveTo>
                  <a:lnTo>
                    <a:pt x="1142997" y="0"/>
                  </a:lnTo>
                  <a:cubicBezTo>
                    <a:pt x="1159492" y="0"/>
                    <a:pt x="1172863" y="13371"/>
                    <a:pt x="1172863" y="29866"/>
                  </a:cubicBezTo>
                  <a:lnTo>
                    <a:pt x="1172863" y="540348"/>
                  </a:lnTo>
                  <a:cubicBezTo>
                    <a:pt x="1172863" y="556842"/>
                    <a:pt x="1159492" y="570214"/>
                    <a:pt x="1142997" y="570214"/>
                  </a:cubicBezTo>
                  <a:lnTo>
                    <a:pt x="29866" y="570214"/>
                  </a:lnTo>
                  <a:cubicBezTo>
                    <a:pt x="21945" y="570214"/>
                    <a:pt x="14348" y="567067"/>
                    <a:pt x="8748" y="561466"/>
                  </a:cubicBezTo>
                  <a:cubicBezTo>
                    <a:pt x="3147" y="555865"/>
                    <a:pt x="0" y="548269"/>
                    <a:pt x="0" y="540348"/>
                  </a:cubicBezTo>
                  <a:lnTo>
                    <a:pt x="0" y="29866"/>
                  </a:lnTo>
                  <a:cubicBezTo>
                    <a:pt x="0" y="13371"/>
                    <a:pt x="13371" y="0"/>
                    <a:pt x="29866" y="0"/>
                  </a:cubicBezTo>
                  <a:close/>
                </a:path>
              </a:pathLst>
            </a:custGeom>
            <a:blipFill>
              <a:blip r:embed="rId2"/>
              <a:stretch>
                <a:fillRect l="-611" t="0" r="-611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331828" y="5679519"/>
            <a:ext cx="4927472" cy="2898621"/>
            <a:chOff x="0" y="0"/>
            <a:chExt cx="969327" cy="5702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9327" cy="570214"/>
            </a:xfrm>
            <a:custGeom>
              <a:avLst/>
              <a:gdLst/>
              <a:ahLst/>
              <a:cxnLst/>
              <a:rect r="r" b="b" t="t" l="l"/>
              <a:pathLst>
                <a:path h="570214" w="969327">
                  <a:moveTo>
                    <a:pt x="36137" y="0"/>
                  </a:moveTo>
                  <a:lnTo>
                    <a:pt x="933190" y="0"/>
                  </a:lnTo>
                  <a:cubicBezTo>
                    <a:pt x="942774" y="0"/>
                    <a:pt x="951966" y="3807"/>
                    <a:pt x="958743" y="10584"/>
                  </a:cubicBezTo>
                  <a:cubicBezTo>
                    <a:pt x="965520" y="17361"/>
                    <a:pt x="969327" y="26553"/>
                    <a:pt x="969327" y="36137"/>
                  </a:cubicBezTo>
                  <a:lnTo>
                    <a:pt x="969327" y="534077"/>
                  </a:lnTo>
                  <a:cubicBezTo>
                    <a:pt x="969327" y="543661"/>
                    <a:pt x="965520" y="552852"/>
                    <a:pt x="958743" y="559630"/>
                  </a:cubicBezTo>
                  <a:cubicBezTo>
                    <a:pt x="951966" y="566407"/>
                    <a:pt x="942774" y="570214"/>
                    <a:pt x="933190" y="570214"/>
                  </a:cubicBezTo>
                  <a:lnTo>
                    <a:pt x="36137" y="570214"/>
                  </a:lnTo>
                  <a:cubicBezTo>
                    <a:pt x="26553" y="570214"/>
                    <a:pt x="17361" y="566407"/>
                    <a:pt x="10584" y="559630"/>
                  </a:cubicBezTo>
                  <a:cubicBezTo>
                    <a:pt x="3807" y="552852"/>
                    <a:pt x="0" y="543661"/>
                    <a:pt x="0" y="534077"/>
                  </a:cubicBezTo>
                  <a:lnTo>
                    <a:pt x="0" y="36137"/>
                  </a:lnTo>
                  <a:cubicBezTo>
                    <a:pt x="0" y="26553"/>
                    <a:pt x="3807" y="17361"/>
                    <a:pt x="10584" y="10584"/>
                  </a:cubicBezTo>
                  <a:cubicBezTo>
                    <a:pt x="17361" y="3807"/>
                    <a:pt x="26553" y="0"/>
                    <a:pt x="36137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553" r="0" b="-553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28700" y="1462876"/>
            <a:ext cx="11930983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AI RISK PREDICTION MODEL  -  REGRESSION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66051" y="981075"/>
            <a:ext cx="139324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93522" y="2822186"/>
            <a:ext cx="7114295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preprocessing steps operate through separate pipelines for numeric and categorical features. Numeric data is scaled, while the Domain feature is one-hot encoded and combined through a ColumnTransformer.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93522" y="2197254"/>
            <a:ext cx="396810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PIPELINE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19057" y="6461760"/>
            <a:ext cx="9121969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All preprocessing steps and the RandomForestRegressor are merged into a single Pipeline, ensuring consistent training and reproducible results.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2319057" y="5838825"/>
            <a:ext cx="396810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MODEL SETUP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1000125"/>
            <a:ext cx="701014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 3007:</a:t>
            </a:r>
            <a:r>
              <a:rPr lang="en-US" b="true" sz="14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INTRODUCTION TO MACHINE LEARNING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924722"/>
            <a:ext cx="860074" cy="333578"/>
            <a:chOff x="0" y="0"/>
            <a:chExt cx="1146765" cy="44477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28700" y="2244879"/>
            <a:ext cx="6036908" cy="1972161"/>
            <a:chOff x="0" y="0"/>
            <a:chExt cx="1745460" cy="5702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45460" cy="570214"/>
            </a:xfrm>
            <a:custGeom>
              <a:avLst/>
              <a:gdLst/>
              <a:ahLst/>
              <a:cxnLst/>
              <a:rect r="r" b="b" t="t" l="l"/>
              <a:pathLst>
                <a:path h="570214" w="1745460">
                  <a:moveTo>
                    <a:pt x="29496" y="0"/>
                  </a:moveTo>
                  <a:lnTo>
                    <a:pt x="1715964" y="0"/>
                  </a:lnTo>
                  <a:cubicBezTo>
                    <a:pt x="1732255" y="0"/>
                    <a:pt x="1745460" y="13206"/>
                    <a:pt x="1745460" y="29496"/>
                  </a:cubicBezTo>
                  <a:lnTo>
                    <a:pt x="1745460" y="540718"/>
                  </a:lnTo>
                  <a:cubicBezTo>
                    <a:pt x="1745460" y="548541"/>
                    <a:pt x="1742353" y="556043"/>
                    <a:pt x="1736821" y="561575"/>
                  </a:cubicBezTo>
                  <a:cubicBezTo>
                    <a:pt x="1731290" y="567106"/>
                    <a:pt x="1723787" y="570214"/>
                    <a:pt x="1715964" y="570214"/>
                  </a:cubicBezTo>
                  <a:lnTo>
                    <a:pt x="29496" y="570214"/>
                  </a:lnTo>
                  <a:cubicBezTo>
                    <a:pt x="21673" y="570214"/>
                    <a:pt x="14171" y="567106"/>
                    <a:pt x="8639" y="561575"/>
                  </a:cubicBezTo>
                  <a:cubicBezTo>
                    <a:pt x="3108" y="556043"/>
                    <a:pt x="0" y="548541"/>
                    <a:pt x="0" y="540718"/>
                  </a:cubicBezTo>
                  <a:lnTo>
                    <a:pt x="0" y="29496"/>
                  </a:lnTo>
                  <a:cubicBezTo>
                    <a:pt x="0" y="21673"/>
                    <a:pt x="3108" y="14171"/>
                    <a:pt x="8639" y="8639"/>
                  </a:cubicBezTo>
                  <a:cubicBezTo>
                    <a:pt x="14171" y="3108"/>
                    <a:pt x="21673" y="0"/>
                    <a:pt x="29496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6" r="0" b="-36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58737" y="4623065"/>
            <a:ext cx="4231144" cy="3483264"/>
            <a:chOff x="0" y="0"/>
            <a:chExt cx="969327" cy="79799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9327" cy="797993"/>
            </a:xfrm>
            <a:custGeom>
              <a:avLst/>
              <a:gdLst/>
              <a:ahLst/>
              <a:cxnLst/>
              <a:rect r="r" b="b" t="t" l="l"/>
              <a:pathLst>
                <a:path h="797993" w="969327">
                  <a:moveTo>
                    <a:pt x="42084" y="0"/>
                  </a:moveTo>
                  <a:lnTo>
                    <a:pt x="927243" y="0"/>
                  </a:lnTo>
                  <a:cubicBezTo>
                    <a:pt x="938404" y="0"/>
                    <a:pt x="949109" y="4434"/>
                    <a:pt x="957001" y="12326"/>
                  </a:cubicBezTo>
                  <a:cubicBezTo>
                    <a:pt x="964893" y="20218"/>
                    <a:pt x="969327" y="30923"/>
                    <a:pt x="969327" y="42084"/>
                  </a:cubicBezTo>
                  <a:lnTo>
                    <a:pt x="969327" y="755909"/>
                  </a:lnTo>
                  <a:cubicBezTo>
                    <a:pt x="969327" y="767070"/>
                    <a:pt x="964893" y="777774"/>
                    <a:pt x="957001" y="785667"/>
                  </a:cubicBezTo>
                  <a:cubicBezTo>
                    <a:pt x="949109" y="793559"/>
                    <a:pt x="938404" y="797993"/>
                    <a:pt x="927243" y="797993"/>
                  </a:cubicBezTo>
                  <a:lnTo>
                    <a:pt x="42084" y="797993"/>
                  </a:lnTo>
                  <a:cubicBezTo>
                    <a:pt x="30923" y="797993"/>
                    <a:pt x="20218" y="793559"/>
                    <a:pt x="12326" y="785667"/>
                  </a:cubicBezTo>
                  <a:cubicBezTo>
                    <a:pt x="4434" y="777774"/>
                    <a:pt x="0" y="767070"/>
                    <a:pt x="0" y="755909"/>
                  </a:cubicBezTo>
                  <a:lnTo>
                    <a:pt x="0" y="42084"/>
                  </a:lnTo>
                  <a:cubicBezTo>
                    <a:pt x="0" y="30923"/>
                    <a:pt x="4434" y="20218"/>
                    <a:pt x="12326" y="12326"/>
                  </a:cubicBezTo>
                  <a:cubicBezTo>
                    <a:pt x="20218" y="4434"/>
                    <a:pt x="30923" y="0"/>
                    <a:pt x="42084" y="0"/>
                  </a:cubicBezTo>
                  <a:close/>
                </a:path>
              </a:pathLst>
            </a:custGeom>
            <a:blipFill>
              <a:blip r:embed="rId3"/>
              <a:stretch>
                <a:fillRect l="-1211" t="0" r="-1211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28700" y="1462876"/>
            <a:ext cx="11930983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AI RISK PREDICTION MODEL  -  REGRESSION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66051" y="981075"/>
            <a:ext cx="139324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45046" y="2626207"/>
            <a:ext cx="5725297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model achieves MAE ≈ 9.99 and RMSE ≈ 14.16, indicating moderate prediction error. R² ≈ 0.439 means the model explains about 44% of the variance.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45046" y="2132576"/>
            <a:ext cx="396810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MODEL PERFORMANCE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07572" y="5200373"/>
            <a:ext cx="5725297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scatter plot shows that predictions follow the overall trend. Many points align near the 45° line, indicating strong consistency between predicted and actual AI Impact values.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07572" y="4575440"/>
            <a:ext cx="396810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MODEL VISUALIZATION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1000125"/>
            <a:ext cx="701014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 3007:</a:t>
            </a:r>
            <a:r>
              <a:rPr lang="en-US" b="true" sz="14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INTRODUCTION TO MACHINE LEARNING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3594324" y="3713740"/>
            <a:ext cx="396810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WHY RANDOM FOREST?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59370" y="4486367"/>
            <a:ext cx="4238014" cy="187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Captures non-linear relationships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Robust against noise and outliers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Works well with mixed data types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Provides stable and explainable predictions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924722"/>
            <a:ext cx="860074" cy="333578"/>
            <a:chOff x="0" y="0"/>
            <a:chExt cx="1146765" cy="44477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Freeform 9" id="9"/>
          <p:cNvSpPr/>
          <p:nvPr/>
        </p:nvSpPr>
        <p:spPr>
          <a:xfrm flipH="false" flipV="false" rot="0">
            <a:off x="1028700" y="4695665"/>
            <a:ext cx="5026101" cy="3545957"/>
          </a:xfrm>
          <a:custGeom>
            <a:avLst/>
            <a:gdLst/>
            <a:ahLst/>
            <a:cxnLst/>
            <a:rect r="r" b="b" t="t" l="l"/>
            <a:pathLst>
              <a:path h="3545957" w="5026101">
                <a:moveTo>
                  <a:pt x="0" y="0"/>
                </a:moveTo>
                <a:lnTo>
                  <a:pt x="5026101" y="0"/>
                </a:lnTo>
                <a:lnTo>
                  <a:pt x="5026101" y="3545957"/>
                </a:lnTo>
                <a:lnTo>
                  <a:pt x="0" y="3545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462876"/>
            <a:ext cx="11930983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JOB VULNERABILITY CLASSIFICATION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75576" y="981075"/>
            <a:ext cx="139324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138600"/>
            <a:ext cx="1193098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 classify occupations into Low – Medium – High risk groups based on their AI Impact scores.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2804000"/>
            <a:ext cx="396810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STEPS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1000125"/>
            <a:ext cx="701014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 3007:</a:t>
            </a:r>
            <a:r>
              <a:rPr lang="en-US" b="true" sz="14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INTRODUCTION TO MACHINE LEARNING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131660"/>
            <a:ext cx="7792368" cy="156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Normalized the AI Impact score and converted it into 3 classes.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Built preprocessing pipeline (Scaler + OneHotEncoder).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Trained a RandomForestClassifier.</a:t>
            </a:r>
          </a:p>
          <a:p>
            <a:pPr algn="just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Evaluated performance using accuracy + confusion matrix.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5813165" y="6565899"/>
            <a:ext cx="396810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CONFUSION MATRIX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13165" y="6985159"/>
            <a:ext cx="7792368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model predicts the Low risk class with extremely high accuracy. Although there is minor confusion between High and Medium classes, the overall accuracy (97.54%) is very strong.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924722"/>
            <a:ext cx="860074" cy="333578"/>
            <a:chOff x="0" y="0"/>
            <a:chExt cx="1146765" cy="44477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Freeform 9" id="9"/>
          <p:cNvSpPr/>
          <p:nvPr/>
        </p:nvSpPr>
        <p:spPr>
          <a:xfrm flipH="false" flipV="false" rot="0">
            <a:off x="1028700" y="3561324"/>
            <a:ext cx="16240125" cy="4547235"/>
          </a:xfrm>
          <a:custGeom>
            <a:avLst/>
            <a:gdLst/>
            <a:ahLst/>
            <a:cxnLst/>
            <a:rect r="r" b="b" t="t" l="l"/>
            <a:pathLst>
              <a:path h="4547235" w="16240125">
                <a:moveTo>
                  <a:pt x="0" y="0"/>
                </a:moveTo>
                <a:lnTo>
                  <a:pt x="16240125" y="0"/>
                </a:lnTo>
                <a:lnTo>
                  <a:pt x="16240125" y="4547235"/>
                </a:lnTo>
                <a:lnTo>
                  <a:pt x="0" y="45472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462876"/>
            <a:ext cx="11930983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JOB VULNERABILITY CLASSIFICATION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75576" y="981075"/>
            <a:ext cx="139324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937748"/>
            <a:ext cx="11930983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 Output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000125"/>
            <a:ext cx="701014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 3007:</a:t>
            </a:r>
            <a:r>
              <a:rPr lang="en-US" b="true" sz="14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INTRODUCTION TO MACHINE LEARNING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924722"/>
            <a:ext cx="860074" cy="333578"/>
            <a:chOff x="0" y="0"/>
            <a:chExt cx="1146765" cy="44477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TextBox 9" id="9"/>
          <p:cNvSpPr txBox="true"/>
          <p:nvPr/>
        </p:nvSpPr>
        <p:spPr>
          <a:xfrm rot="0">
            <a:off x="1028700" y="1462876"/>
            <a:ext cx="11930983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FUTURE PROOF SKILLS RECOMMENDER 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75576" y="981075"/>
            <a:ext cx="139324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783941"/>
            <a:ext cx="1193098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 Does the Future-Proof Skills Recommender Do?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472545"/>
            <a:ext cx="396810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INPUT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000125"/>
            <a:ext cx="701014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 3007:</a:t>
            </a:r>
            <a:r>
              <a:rPr lang="en-US" b="true" sz="14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INTRODUCTION TO MACHINE LEARNING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775796"/>
            <a:ext cx="7792368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User’s job (Job Title)</a:t>
            </a: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Sk</a:t>
            </a:r>
            <a:r>
              <a:rPr lang="en-US" sz="1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ill scores of that job</a:t>
            </a:r>
          </a:p>
          <a:p>
            <a:pPr algn="just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Risk category (High / Medium / Low)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085811"/>
            <a:ext cx="1193098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Suggest safer, low-risk job alternatives based on skill similarity.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5172796"/>
            <a:ext cx="396810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SETUP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5571576"/>
            <a:ext cx="7792368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Build a skill vector for every job.</a:t>
            </a: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Compute similarity between vectors using cosine similarity.</a:t>
            </a:r>
          </a:p>
          <a:p>
            <a:pPr algn="just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Filter jobs with lower AI risk than the original one.</a:t>
            </a:r>
          </a:p>
          <a:p>
            <a:pPr algn="just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Return the top 5–10 jobs with the highest similarity as recommendations.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3133006"/>
            <a:ext cx="1193098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Goal: </a:t>
            </a:r>
            <a:r>
              <a:rPr lang="en-US" sz="1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For a high-risk job, suggest lower-risk occupations that require similar skills.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49342" y="4966758"/>
            <a:ext cx="7792368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We used the SentenceTransformer (all-MiniLM-L6-v2) model to encode job titles into numerical vectors that preserve semantic meaning. This allows the system to understand that terms like “developer” and “software engineer” are closely related.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49342" y="4510956"/>
            <a:ext cx="396810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SENTENCE TRANSFORMER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924722"/>
            <a:ext cx="860074" cy="333578"/>
            <a:chOff x="0" y="0"/>
            <a:chExt cx="1146765" cy="44477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Freeform 9" id="9"/>
          <p:cNvSpPr/>
          <p:nvPr/>
        </p:nvSpPr>
        <p:spPr>
          <a:xfrm flipH="false" flipV="false" rot="0">
            <a:off x="978690" y="7076199"/>
            <a:ext cx="3167775" cy="631697"/>
          </a:xfrm>
          <a:custGeom>
            <a:avLst/>
            <a:gdLst/>
            <a:ahLst/>
            <a:cxnLst/>
            <a:rect r="r" b="b" t="t" l="l"/>
            <a:pathLst>
              <a:path h="631697" w="3167775">
                <a:moveTo>
                  <a:pt x="0" y="0"/>
                </a:moveTo>
                <a:lnTo>
                  <a:pt x="3167775" y="0"/>
                </a:lnTo>
                <a:lnTo>
                  <a:pt x="3167775" y="631697"/>
                </a:lnTo>
                <a:lnTo>
                  <a:pt x="0" y="631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462876"/>
            <a:ext cx="11930983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FUTURE PROOF SKILLS RECOMMENDER SYSTEM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75576" y="981075"/>
            <a:ext cx="139324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000125"/>
            <a:ext cx="701014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 3007:</a:t>
            </a:r>
            <a:r>
              <a:rPr lang="en-US" b="true" sz="14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INTRODUCTION TO MACHINE LEARNING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151136" y="2481298"/>
            <a:ext cx="396810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CODE LOGIC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8690" y="2960167"/>
            <a:ext cx="7060152" cy="5964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1- Each job is converted into a numerical vector: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                job​→[s1​,s2​,s3​,...]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This vector describes the strengths of that job across different skills.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2- Create a Skill Matrix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We combine all job vectors into a matrix where: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Rows = jobs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Columns = skill values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This forms the search space for similarity.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3- Use Cosine Similarity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We compute similarity between all job vectors using cosine 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​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score close to 1 → very similar skills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score close to 0 → very different skills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085811"/>
            <a:ext cx="1193098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Suggest safer, low-risk job alternatives based on skill similarity.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29607" y="2960167"/>
            <a:ext cx="7060152" cy="565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5 - Filter by Lower Risk Jobs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When the user selects a job: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We check its risk level (High / Medium / Low)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We filter only the jobs with lower AI risk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(e.g., High → Medium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&amp; Low)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This makes the recommendations both safe and relevant.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6 - Rank by Similarity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Among the lower-risk jobs,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we sort them by similarity score in descending order.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Top 5 or Top 10 most similar jobs are selected.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7 - Return Recommendations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system outputs a list of careers that have: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✔ similar skills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✔ lower AI risk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924722"/>
            <a:ext cx="860074" cy="333578"/>
            <a:chOff x="0" y="0"/>
            <a:chExt cx="1146765" cy="44477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Freeform 9" id="9"/>
          <p:cNvSpPr/>
          <p:nvPr/>
        </p:nvSpPr>
        <p:spPr>
          <a:xfrm flipH="false" flipV="false" rot="0">
            <a:off x="12848809" y="6025153"/>
            <a:ext cx="5849374" cy="1949791"/>
          </a:xfrm>
          <a:custGeom>
            <a:avLst/>
            <a:gdLst/>
            <a:ahLst/>
            <a:cxnLst/>
            <a:rect r="r" b="b" t="t" l="l"/>
            <a:pathLst>
              <a:path h="1949791" w="5849374">
                <a:moveTo>
                  <a:pt x="0" y="0"/>
                </a:moveTo>
                <a:lnTo>
                  <a:pt x="5849374" y="0"/>
                </a:lnTo>
                <a:lnTo>
                  <a:pt x="5849374" y="1949791"/>
                </a:lnTo>
                <a:lnTo>
                  <a:pt x="0" y="1949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2756057"/>
            <a:ext cx="11301259" cy="5791895"/>
          </a:xfrm>
          <a:custGeom>
            <a:avLst/>
            <a:gdLst/>
            <a:ahLst/>
            <a:cxnLst/>
            <a:rect r="r" b="b" t="t" l="l"/>
            <a:pathLst>
              <a:path h="5791895" w="11301259">
                <a:moveTo>
                  <a:pt x="0" y="0"/>
                </a:moveTo>
                <a:lnTo>
                  <a:pt x="11301259" y="0"/>
                </a:lnTo>
                <a:lnTo>
                  <a:pt x="11301259" y="5791895"/>
                </a:lnTo>
                <a:lnTo>
                  <a:pt x="0" y="57918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1462876"/>
            <a:ext cx="11930983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FUTURE PROOF SKILLS RECOMMENDER SYSTEM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875576" y="981075"/>
            <a:ext cx="139324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000125"/>
            <a:ext cx="701014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 3007:</a:t>
            </a:r>
            <a:r>
              <a:rPr lang="en-US" b="true" sz="14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INTRODUCTION TO MACHINE LEARNING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249327"/>
            <a:ext cx="1193098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 Output: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59683" y="2349340"/>
            <a:ext cx="396810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SIMILARITY SCORE :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48809" y="2877025"/>
            <a:ext cx="4585586" cy="2205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34"/>
              </a:lnSpc>
              <a:spcBef>
                <a:spcPct val="0"/>
              </a:spcBef>
            </a:pPr>
            <a:r>
              <a:rPr lang="en-US" sz="181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Our recommendation engine uses a hybrid similarity model that combines Sentence Transformer semantic embeddings with cosine similarity on domain and numeric features. The final similarity score is a weighted blend of these three components.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924722"/>
            <a:ext cx="860074" cy="333578"/>
            <a:chOff x="0" y="0"/>
            <a:chExt cx="1146765" cy="44477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Freeform 9" id="9"/>
          <p:cNvSpPr/>
          <p:nvPr/>
        </p:nvSpPr>
        <p:spPr>
          <a:xfrm flipH="false" flipV="false" rot="0">
            <a:off x="9412052" y="4105255"/>
            <a:ext cx="8982710" cy="5661681"/>
          </a:xfrm>
          <a:custGeom>
            <a:avLst/>
            <a:gdLst/>
            <a:ahLst/>
            <a:cxnLst/>
            <a:rect r="r" b="b" t="t" l="l"/>
            <a:pathLst>
              <a:path h="5661681" w="8982710">
                <a:moveTo>
                  <a:pt x="0" y="0"/>
                </a:moveTo>
                <a:lnTo>
                  <a:pt x="8982709" y="0"/>
                </a:lnTo>
                <a:lnTo>
                  <a:pt x="8982709" y="5661681"/>
                </a:lnTo>
                <a:lnTo>
                  <a:pt x="0" y="56616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462876"/>
            <a:ext cx="11930983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SECTOR AI RESILIENCE INDEX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75576" y="981075"/>
            <a:ext cx="139324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010241"/>
            <a:ext cx="1193098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Measuring how resilient each sector is against AI-driven automation.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000125"/>
            <a:ext cx="701014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 3007:</a:t>
            </a:r>
            <a:r>
              <a:rPr lang="en-US" b="true" sz="14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INTRODUCTION TO MACHINE LEARNING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829223"/>
            <a:ext cx="7792368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We created an AI Resilience Index to measure how resistant each sector is to AI-driven automation. The index is calculated from multiple factors such as average AI impact, task complexity, model usage intensity, and AI workload ratio.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4593253"/>
            <a:ext cx="7792368" cy="2821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 compute the Sector AI Resilience Index, we aggregated each sector’s: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Average AI Impact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Average Tasks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Average AI models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Average AI_Workload_Ratio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All metrics were normalized, inverted where necessary, and combined into a single resilience score.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9840355" y="2370043"/>
            <a:ext cx="7792368" cy="164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Resilience Index:</a:t>
            </a:r>
          </a:p>
          <a:p>
            <a:pPr algn="just">
              <a:lnSpc>
                <a:spcPts val="2100"/>
              </a:lnSpc>
            </a:pPr>
          </a:p>
          <a:p>
            <a:pPr algn="just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0.35 × (1 – AIImpactNorm)</a:t>
            </a:r>
          </a:p>
          <a:p>
            <a:pPr algn="just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+ 0.25 × (1 – AIWorkloadNorm)</a:t>
            </a:r>
          </a:p>
          <a:p>
            <a:pPr algn="just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+ 0.20 × TasksNorm</a:t>
            </a:r>
          </a:p>
          <a:p>
            <a:pPr algn="just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+ 0.20 × DomainComplexityNorm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924722"/>
            <a:ext cx="860074" cy="333578"/>
            <a:chOff x="0" y="0"/>
            <a:chExt cx="1146765" cy="44477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Freeform 9" id="9"/>
          <p:cNvSpPr/>
          <p:nvPr/>
        </p:nvSpPr>
        <p:spPr>
          <a:xfrm flipH="false" flipV="false" rot="0">
            <a:off x="1028700" y="3377590"/>
            <a:ext cx="15543500" cy="3555576"/>
          </a:xfrm>
          <a:custGeom>
            <a:avLst/>
            <a:gdLst/>
            <a:ahLst/>
            <a:cxnLst/>
            <a:rect r="r" b="b" t="t" l="l"/>
            <a:pathLst>
              <a:path h="3555576" w="15543500">
                <a:moveTo>
                  <a:pt x="0" y="0"/>
                </a:moveTo>
                <a:lnTo>
                  <a:pt x="15543500" y="0"/>
                </a:lnTo>
                <a:lnTo>
                  <a:pt x="15543500" y="3555575"/>
                </a:lnTo>
                <a:lnTo>
                  <a:pt x="0" y="35555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462876"/>
            <a:ext cx="11930983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SECTOR AI RESILIENCE INDEX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75576" y="981075"/>
            <a:ext cx="139324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010241"/>
            <a:ext cx="1193098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Measuring how resilient each sector is against AI-driven automation.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000125"/>
            <a:ext cx="701014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 3007:</a:t>
            </a:r>
            <a:r>
              <a:rPr lang="en-US" b="true" sz="14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INTRODUCTION TO MACHINE LEARNING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831296"/>
            <a:ext cx="779236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 Output: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924722"/>
            <a:ext cx="860074" cy="333578"/>
            <a:chOff x="0" y="0"/>
            <a:chExt cx="1146765" cy="44477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TextBox 9" id="9"/>
          <p:cNvSpPr txBox="true"/>
          <p:nvPr/>
        </p:nvSpPr>
        <p:spPr>
          <a:xfrm rot="0">
            <a:off x="1028700" y="1462876"/>
            <a:ext cx="11930983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LIMITATIONS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75576" y="981075"/>
            <a:ext cx="139324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000125"/>
            <a:ext cx="701014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 3007:</a:t>
            </a:r>
            <a:r>
              <a:rPr lang="en-US" b="true" sz="14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INTRODUCTION TO MACHINE LEARNING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831296"/>
            <a:ext cx="15369216" cy="470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While the models provide meaningful insights, several limitations should be considered:</a:t>
            </a:r>
          </a:p>
          <a:p>
            <a:pPr algn="just">
              <a:lnSpc>
                <a:spcPts val="2520"/>
              </a:lnSpc>
            </a:pP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Synthetic Dataset: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The dataset is artificially generated, meaning real-world labour dynamics, economic factors, and nuanced job definitions may not be fully captured.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Feature Availability: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The skill columns and workload indicators are limited.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Model Interpretability: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RandomForest provides strong predictive performance but limited interpretability compared to linear or SHAP-based approaches.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Semantic Dependence: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SentenceTransformer embeddings rely solely on job titles, not full job descriptions, which may reduce semantic accuracy.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Static Analysis: 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models assume static AI risk; real-world risk changes over time due to technology adoption and economic shifts.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Domain Encoding Simplicity: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One-hot encoding treats domains as independent categories and does not capture relationships between similar sectors.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These limitations highlight the need for more robust, real-world data and more advanced modelling techniques in future work.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924722"/>
            <a:ext cx="860074" cy="333578"/>
            <a:chOff x="0" y="0"/>
            <a:chExt cx="1146765" cy="44477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TextBox 9" id="9"/>
          <p:cNvSpPr txBox="true"/>
          <p:nvPr/>
        </p:nvSpPr>
        <p:spPr>
          <a:xfrm rot="0">
            <a:off x="1028700" y="2831296"/>
            <a:ext cx="15369216" cy="533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 this project, we explored how machine learning can be used to understand and fore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cast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the impact of AI-driven automation on jobs and sectors.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We developed four interconnected models: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</a:t>
            </a:r>
            <a:r>
              <a:rPr lang="en-US" sz="18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AI Risk Prediction Model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estimated 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om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on r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sk using numerical and categorical features.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</a:t>
            </a:r>
            <a:r>
              <a:rPr lang="en-US" sz="18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J</a:t>
            </a:r>
            <a:r>
              <a:rPr lang="en-US" sz="18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ob Vulnerability Classification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grouped occupations into Low, Medium, and High risk.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sz="18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Future-Proof Skills Recommender System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suggested safer alternative careers using a hybrid similarity model combining s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emantic       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(SentenceTransformer) and skill-based measures.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</a:t>
            </a:r>
            <a:r>
              <a:rPr lang="en-US" sz="18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Sector AI Resilience Index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quantified how resilient each sector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is 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by aggregating job-level risk and workload indicators.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Overall, our results show that machi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lear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ning c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 effectively capture patterns related to task complexity, domain structure, and skill similarity, enabling data-driven insights for workforce planning, career guidance, and policy decision-making.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462876"/>
            <a:ext cx="11930983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CONCLUSION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75576" y="981075"/>
            <a:ext cx="139324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000125"/>
            <a:ext cx="701014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 3007:</a:t>
            </a:r>
            <a:r>
              <a:rPr lang="en-US" b="true" sz="14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INTRODUCTION TO MACHINE LEARNING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DAG6LFr-jqY</dc:identifier>
  <dcterms:modified xsi:type="dcterms:W3CDTF">2011-08-01T06:04:30Z</dcterms:modified>
  <cp:revision>1</cp:revision>
  <dc:title>AI Impact on Jobs: Predicting Job Risk &amp; Future Skills</dc:title>
</cp:coreProperties>
</file>